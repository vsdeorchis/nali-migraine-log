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08760" y="1463040"/>
            <a:ext cx="1737360" cy="1737360"/>
          </a:xfrm>
          <a:prstGeom prst="ellipse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1484" y="1775764"/>
            <a:ext cx="555956" cy="1111912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77440" y="1775764"/>
            <a:ext cx="555956" cy="1111912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377440.0" y="1821484.0"/>
            <a:ext cx="0.0" cy="1020472.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6118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NALI Migraine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(“Headway”)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iPhone  •  Apple Watch  •  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6400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482B4"/>
                </a:solidFill>
                <a:latin typeface="Calibri"/>
              </a:rPr>
              <a:t>FOR FELLOW CLINICIANS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9601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B2A3A"/>
                </a:solidFill>
                <a:latin typeface="Calibri"/>
              </a:rPr>
              <a:t>A privacy-first migraine
tracker that turns patient
diaries into clinical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88920"/>
            <a:ext cx="6675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5A6A"/>
                </a:solidFill>
                <a:latin typeface="Calibri"/>
              </a:rPr>
              <a:t>Patients log headaches in seconds across iPhone, Apple Watch, Mac, or by voice with Siri. Their entries stay on-device and sync only through their personal iCloud — there are no developer servers, no analytics SDKs, and no third-party data sharing.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572000"/>
            <a:ext cx="2103120" cy="146304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7091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E5A82"/>
                </a:solidFill>
                <a:latin typeface="Calibri"/>
              </a:rPr>
              <a:t>63+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53492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automated tests covering the
prediction &amp; data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4572000"/>
            <a:ext cx="2103120" cy="146304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47091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E5A82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53492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third-party SDKs, trackers,
or developer-side servers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47504" y="4572000"/>
            <a:ext cx="2103120" cy="146304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8944" y="47091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2E5A82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53492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Apple platforms supported
from one shared codebase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NALI Migraine Log  •  Privacy-first migraine tracking for iPhone, Apple Watch, and 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3A"/>
                </a:solidFill>
                <a:latin typeface="Calibri"/>
              </a:rPr>
              <a:t>What it captures — and what it tells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A6A"/>
                </a:solidFill>
                <a:latin typeface="Calibri"/>
              </a:rPr>
              <a:t>Structured data + on-device intelligence, designed around how we actually triage migraine.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49240" cy="4846320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49240" cy="502920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Clinical data captured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8006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Headache events:</a:t>
            </a:r>
            <a:r>
              <a:rPr sz="1200">
                <a:solidFill>
                  <a:srgbClr val="1B2A3A"/>
                </a:solidFill>
                <a:latin typeface="Calibri"/>
              </a:rPr>
              <a:t> onset/end time, 1–10 pain, duration, location, aura.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Triggers:</a:t>
            </a:r>
            <a:r>
              <a:rPr sz="1200">
                <a:solidFill>
                  <a:srgbClr val="1B2A3A"/>
                </a:solidFill>
                <a:latin typeface="Calibri"/>
              </a:rPr>
              <a:t> stress, sleep, dehydration, hormones, weather, alcohol, caffeine, food, screens, exercise.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Medications:</a:t>
            </a:r>
            <a:r>
              <a:rPr sz="1200">
                <a:solidFill>
                  <a:srgbClr val="1B2A3A"/>
                </a:solidFill>
                <a:latin typeface="Calibri"/>
              </a:rPr>
              <a:t> abortives (triptans, NSAIDs, antiemetics, gepants) with dose timing for MOH signal.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Life impact:</a:t>
            </a:r>
            <a:r>
              <a:rPr sz="1200">
                <a:solidFill>
                  <a:srgbClr val="1B2A3A"/>
                </a:solidFill>
                <a:latin typeface="Calibri"/>
              </a:rPr>
              <a:t> work / school / events missed — quantifies disability burden between visits.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Apple Health (opt-in):</a:t>
            </a:r>
            <a:r>
              <a:rPr sz="1200">
                <a:solidFill>
                  <a:srgbClr val="1B2A3A"/>
                </a:solidFill>
                <a:latin typeface="Calibri"/>
              </a:rPr>
              <a:t> sleep, HRV, resting HR, steps, and menstrual flow for context-aware analytics.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Weather (Open-Meteo):</a:t>
            </a:r>
            <a:r>
              <a:rPr sz="1200">
                <a:solidFill>
                  <a:srgbClr val="1B2A3A"/>
                </a:solidFill>
                <a:latin typeface="Calibri"/>
              </a:rPr>
              <a:t> barometric pressure, pressure change, humidity, temperature — attached to every entry.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Voice + Watch logging:</a:t>
            </a:r>
            <a:r>
              <a:rPr sz="1200">
                <a:solidFill>
                  <a:srgbClr val="1B2A3A"/>
                </a:solidFill>
                <a:latin typeface="Calibri"/>
              </a:rPr>
              <a:t> “Hey Siri, log a migraine” or one tap on the wrist.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349240" cy="4846320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349240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Analytics &amp; risk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8006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Overview dashboard:</a:t>
            </a:r>
            <a:r>
              <a:rPr sz="1200">
                <a:solidFill>
                  <a:srgbClr val="1B2A3A"/>
                </a:solidFill>
                <a:latin typeface="Calibri"/>
              </a:rPr>
              <a:t> frequency, severity buckets (mild/moderate/severe/extreme), migraine-free streak, top trigger, abortives used.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Severity heatmap:</a:t>
            </a:r>
            <a:r>
              <a:rPr sz="1200">
                <a:solidFill>
                  <a:srgbClr val="1B2A3A"/>
                </a:solidFill>
                <a:latin typeface="Calibri"/>
              </a:rPr>
              <a:t> 60–90 day calendar view — a glance at clustering, weekend patterns, and trends.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Auto-generated insights:</a:t>
            </a:r>
            <a:r>
              <a:rPr sz="1200">
                <a:solidFill>
                  <a:srgbClr val="1B2A3A"/>
                </a:solidFill>
                <a:latin typeface="Calibri"/>
              </a:rPr>
              <a:t> only surfaces cards when the underlying signal is statistically meaningful.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HealthKit correlations:</a:t>
            </a:r>
            <a:r>
              <a:rPr sz="1200">
                <a:solidFill>
                  <a:srgbClr val="1B2A3A"/>
                </a:solidFill>
                <a:latin typeface="Calibri"/>
              </a:rPr>
              <a:t> sleep on migraine eves vs. controls, HRV in the 72-hour prodromal window, and menstrual-cycle phase (highlights the perimenstrual window for estrogen-withdrawal migraine).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24-hour risk forecast:</a:t>
            </a:r>
            <a:r>
              <a:rPr sz="1200">
                <a:solidFill>
                  <a:srgbClr val="1B2A3A"/>
                </a:solidFill>
                <a:latin typeface="Calibri"/>
              </a:rPr>
              <a:t> hybrid scoring — rule-based from day one, transitions to an on-device CoreML model after ≥20 logged entries.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4482B4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Forecast-risk alerts:</a:t>
            </a:r>
            <a:r>
              <a:rPr sz="1200">
                <a:solidFill>
                  <a:srgbClr val="1B2A3A"/>
                </a:solidFill>
                <a:latin typeface="Calibri"/>
              </a:rPr>
              <a:t> an opt-in push fires ≈2 hours before a high-risk window so patients can pre-empt with their abortive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NALI Migraine Log  •  Privacy-first migraine tracking for iPhone, Apple Watch, and 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3A"/>
                </a:solidFill>
                <a:latin typeface="Calibri"/>
              </a:rPr>
              <a:t>Privacy by design — and why it matters at the bedside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A6A"/>
                </a:solidFill>
                <a:latin typeface="Calibri"/>
              </a:rPr>
              <a:t>Patients can hand you better data with zero compromise on confidentiality.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7216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9728" cy="1417320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5A82"/>
                </a:solidFill>
                <a:latin typeface="Calibri"/>
              </a:rPr>
              <a:t>On device + iCloud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55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All entries persist locally with Core Data and sync exclusively through the patient’s personal iCloud account. No developer servers ever see the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417320"/>
            <a:ext cx="37216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417320"/>
            <a:ext cx="109728" cy="1417320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5A82"/>
                </a:solidFill>
                <a:latin typeface="Calibri"/>
              </a:rPr>
              <a:t>No tracking, no SDKs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65960"/>
            <a:ext cx="3355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Zero third-party analytics, advertising, or crash-reporting libraries. The dependency graph is intentionally empty.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417320"/>
            <a:ext cx="37216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417320"/>
            <a:ext cx="109728" cy="1417320"/>
          </a:xfrm>
          <a:prstGeom prst="rect">
            <a:avLst/>
          </a:prstGeom>
          <a:solidFill>
            <a:srgbClr val="44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581912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5A82"/>
                </a:solidFill>
                <a:latin typeface="Calibri"/>
              </a:rPr>
              <a:t>Apple Health, two-way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1965960"/>
            <a:ext cx="3355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A5A6A"/>
                </a:solidFill>
                <a:latin typeface="Calibri"/>
              </a:rPr>
              <a:t>Migraines write back to Apple Health as Headache samples (idempotent, deduplicated) so they appear in the patient’s own Health record alongside sleep and cycle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63240"/>
            <a:ext cx="11274552" cy="3246120"/>
          </a:xfrm>
          <a:prstGeom prst="roundRect">
            <a:avLst>
              <a:gd name="adj" fmla="val 4000"/>
            </a:avLst>
          </a:prstGeom>
          <a:solidFill>
            <a:srgbClr val="E3EEF7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5A82"/>
                </a:solidFill>
                <a:latin typeface="Calibri"/>
              </a:rPr>
              <a:t>Where it helps in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52578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Better history at the visit:</a:t>
            </a:r>
            <a:r>
              <a:rPr sz="1200">
                <a:solidFill>
                  <a:srgbClr val="1B2A3A"/>
                </a:solidFill>
                <a:latin typeface="Calibri"/>
              </a:rPr>
              <a:t> patients arrive with a structured diary instead of a vague “maybe twice a month.”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Trigger identification:</a:t>
            </a:r>
            <a:r>
              <a:rPr sz="1200">
                <a:solidFill>
                  <a:srgbClr val="1B2A3A"/>
                </a:solidFill>
                <a:latin typeface="Calibri"/>
              </a:rPr>
              <a:t> trigger-share percentages and per-trigger drill-downs make pattern recognition objective.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Medication-overuse signal:</a:t>
            </a:r>
            <a:r>
              <a:rPr sz="1200">
                <a:solidFill>
                  <a:srgbClr val="1B2A3A"/>
                </a:solidFill>
                <a:latin typeface="Calibri"/>
              </a:rPr>
              <a:t> triptan/NSAID use in the last 7 days is tracked explicitly — catches MOH earlier.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840480"/>
            <a:ext cx="52578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Hormonal migraine workup:</a:t>
            </a:r>
            <a:r>
              <a:rPr sz="1200">
                <a:solidFill>
                  <a:srgbClr val="1B2A3A"/>
                </a:solidFill>
                <a:latin typeface="Calibri"/>
              </a:rPr>
              <a:t> perimenstrual clustering surfaces automatically when patients log flow in Apple Health.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Prodromal awareness:</a:t>
            </a:r>
            <a:r>
              <a:rPr sz="1200">
                <a:solidFill>
                  <a:srgbClr val="1B2A3A"/>
                </a:solidFill>
                <a:latin typeface="Calibri"/>
              </a:rPr>
              <a:t> HRV and sleep deltas in the 72 h pre-onset window can prompt earlier abortive use.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2E5A82"/>
                </a:solidFill>
                <a:latin typeface="Calibri"/>
              </a:rPr>
              <a:t>●  </a:t>
            </a:r>
            <a:r>
              <a:rPr sz="1200" b="1">
                <a:solidFill>
                  <a:srgbClr val="1B2A3A"/>
                </a:solidFill>
                <a:latin typeface="Calibri"/>
              </a:rPr>
              <a:t>Treatment response:</a:t>
            </a:r>
            <a:r>
              <a:rPr sz="1200">
                <a:solidFill>
                  <a:srgbClr val="1B2A3A"/>
                </a:solidFill>
                <a:latin typeface="Calibri"/>
              </a:rPr>
              <a:t> severity-bucket trends and migraine-free streak quantify whether a new prophylactic is working.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06440"/>
            <a:ext cx="10698480" cy="384048"/>
          </a:xfrm>
          <a:prstGeom prst="roundRect">
            <a:avLst>
              <a:gd name="adj" fmla="val 40000"/>
            </a:avLst>
          </a:prstGeom>
          <a:solidFill>
            <a:srgbClr val="2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Free for patients  •  No account required  •  Works offline  •  Available on iPhone, Apple Watch, and 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NALI Migraine Log  •  Privacy-first migraine tracking for iPhone, Apple Watch, and Mac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4A5A6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